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43"/>
  </p:normalViewPr>
  <p:slideViewPr>
    <p:cSldViewPr snapToGrid="0">
      <p:cViewPr varScale="1">
        <p:scale>
          <a:sx n="126" d="100"/>
          <a:sy n="126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8A9AB-467B-A74C-AC23-C37D85612C7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897E8-8289-7049-9C3A-223683FBDA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092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數字偏高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（例如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LAVE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中位數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61%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）：表示很多時間花在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、合法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選擇等，而不是純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forward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數字偏低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（例如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GGBS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中位數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）：表示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相對整體耗時比較少（同表也註明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LAVE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會被極端值拉得很怪，所以用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報告）。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897E8-8289-7049-9C3A-223683FBDA53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60726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F7D420-412A-1096-FFDA-45001890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589EA2-2FE2-428B-6A33-AB6D7AAC0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D8F37F-9C5F-5920-5DEF-EF203CA7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31AA62-18D9-DFDA-289F-5ECA45B6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D9FCF1-24E1-B234-BBCA-9B8E7DDE4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547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2857B-4930-90CE-8369-073A2E25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06E45-61BA-F2C4-BF0D-DEDB4FAE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00616C-2113-A5B7-0ED8-E0181801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1DC82A-AC76-A708-9A6C-749F323A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08341-C307-5748-5F7C-FA4BC328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6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C7DF7-C2A0-6552-029C-CD2F79A0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987F6A-C6F9-5CD9-F0EA-DEEFA2544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D45401-9CE6-CE4F-5264-0B62A3B3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D20904-A9A0-2B4E-79D2-54030FD3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7E5BF8-98B0-548A-7EA8-FD0965C7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414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CA5EEF-C3A6-DA70-44DC-C595C0EA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DC2533-1626-D7D9-4413-E3CABED01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DB894A-3A9D-9A53-3088-DC66D9D35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A40089-8022-288C-BA2C-5EA8E66C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6A6163-B7B2-55F1-683D-C097BD78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4C59E5-147D-4B65-70E1-121509D0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906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44663F-4C9A-A7BA-5BDD-D3380EDC0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82EF8A-F074-BAA9-6517-36B1E0FFA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16C1F4-E8AC-1820-8E9F-0DFE01D8E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AA60398-60DC-861C-7C1F-AA1BDB9D0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1B1D08-8A12-35E6-E1FC-8B5BE5517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5596978-E0DC-FA7A-70C6-9426A0C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BDA6F2F-97BC-7A9A-A877-29C7E4F5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DF4DB8-B0B2-BFB7-D462-DB2A0D72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258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F6F663-8F14-5618-A4D6-832C1D70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290EDD2-911D-CED8-B4B3-097F60E1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47C631C-9B20-C2DD-01E3-8646C04A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A2B785-5AF4-CFDE-32BC-AD7A8F7EF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7957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58809FE-02B0-8703-B853-B16FA984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CA2D43-A27B-3F0A-1E8A-29C60627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68C8E5-449F-E7C8-F7FA-00ADC5C0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145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4DA9F-29B1-8521-1533-7389B039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80E158-4D8C-CEAE-194F-6FD676A7D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10FC07-A7E2-7402-B0B8-82ADB1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CBEEA4-E89D-9E72-8007-0BEC2D1B6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BDA400-F271-18C0-89CC-64A24F2F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EA0D4B-756E-C9F1-720A-BD8A43AB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86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3C9A63-C347-A725-0BBE-35D4FFB5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E1B797-7CD6-F11F-F7A1-92D5F213B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AE3BC0-A8EF-FF4F-1B45-B289F29C9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56E86F-4075-21D5-DB6F-CA766721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CF7C6E-0F8A-A132-7EA8-DA5CB7DC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F008E8-DDE0-1CCC-0109-F524C5FE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516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0FF1-1E47-911E-2607-CF2CFC5DD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3ACEB3-35E8-AD00-0C6D-05F9CCA8A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6B6903-F271-10FA-27BD-5F5C2193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3A512-F9D2-1C27-783B-BA102247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D9758-026C-D699-D0AB-C87DAC5C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694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7A2A084-1368-0A31-691B-46BCA7434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1B90E3-18B9-F4C2-9DA3-E303CA52D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FDE290-1861-745F-DA1C-6D986556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00C43E-DB1E-65A1-24F9-C361BE76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AFF4FC-A301-E0D9-D0D7-91A8B3BD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692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14E4699-3835-39C4-20A0-8D3D25A7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FA4CAC-85CD-D812-122A-214E931F9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D912A4-D93E-4D80-9516-5AC0924D8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DF50F-6A24-7F42-B678-7D0FD3013A9C}" type="datetimeFigureOut">
              <a:rPr kumimoji="1" lang="zh-TW" altLang="en-US" smtClean="0"/>
              <a:t>2026/3/24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A513BE-48B1-B66A-BD24-A7C439946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439D87-E230-E50E-5FEB-1B33D269F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0BD18-7121-B04D-8348-B189DE339B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09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59790F-2E22-627C-8543-05E75297C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Grammar-Guided Deterministic Decoding for Diffusion Language Model</a:t>
            </a:r>
            <a:endParaRPr kumimoji="1"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1BF25B-C2F3-411F-EA4B-CB2CD5AF2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6321"/>
            <a:ext cx="9144000" cy="1655762"/>
          </a:xfrm>
        </p:spPr>
        <p:txBody>
          <a:bodyPr/>
          <a:lstStyle/>
          <a:p>
            <a:r>
              <a:rPr kumimoji="1" lang="en-US" altLang="zh-TW" dirty="0"/>
              <a:t>Jeng-Yue Liu, Wilson Zheng, </a:t>
            </a:r>
            <a:r>
              <a:rPr kumimoji="1" lang="en-US" altLang="zh-TW" dirty="0" err="1"/>
              <a:t>Haoling</a:t>
            </a:r>
            <a:r>
              <a:rPr kumimoji="1" lang="en-US" altLang="zh-TW" dirty="0"/>
              <a:t> Pu</a:t>
            </a:r>
          </a:p>
          <a:p>
            <a:r>
              <a:rPr kumimoji="1" lang="en-US" altLang="zh-TW" dirty="0"/>
              <a:t>Advanced NLP Final Project</a:t>
            </a:r>
          </a:p>
          <a:p>
            <a:r>
              <a:rPr kumimoji="1" lang="en-US" altLang="zh-TW" dirty="0"/>
              <a:t>Mar 24, 2026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44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7D12F-FABA-CB18-01D1-919CE607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3E3E32-D868-BB33-B2F6-322A9D43D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LLMs enable parallel generation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generation needs strict grammar compliance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constrained decoding (e.g., LAVE) is stochastic and position-wise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deterministic, joint decoding algorithm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40E142-1EA2-82BE-614F-1F4FBCBDE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2" y="4963382"/>
            <a:ext cx="10851676" cy="187609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B5C9DAB-41D9-4664-2E37-688D3B727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46604"/>
            <a:ext cx="7772400" cy="179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4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35733-AB42-B1A4-97D6-FA972E85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4D3335-E29E-D8F5-884C-8192EA466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DLLMs: 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LLaDA-8B, Dream-7B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constrained decoding: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Xgrammar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Monotonic left-to-right prefix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constrained decoding: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CFG-constrained decoding, DINGO, LAVE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prior work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 or stochastic/local in verification (parser checker)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7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F0C31-82D1-D0EB-55F2-4B267B64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71D3DF-FB22-EA57-607E-EB115B93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LAVE 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sota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for constrained decoding)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A8FEFD9-8C58-CBC3-74BF-32E887590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1594"/>
            <a:ext cx="10515600" cy="3535031"/>
          </a:xfrm>
          <a:prstGeom prst="rect">
            <a:avLst/>
          </a:prstGeom>
        </p:spPr>
      </p:pic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BEA5D7CC-06C2-98CF-83F1-6F09CAA4B4F3}"/>
              </a:ext>
            </a:extLst>
          </p:cNvPr>
          <p:cNvCxnSpPr>
            <a:cxnSpLocks/>
          </p:cNvCxnSpPr>
          <p:nvPr/>
        </p:nvCxnSpPr>
        <p:spPr>
          <a:xfrm>
            <a:off x="1989237" y="2141173"/>
            <a:ext cx="2690339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0FDF11F9-C1AC-9BD8-4D8D-F78528B8D346}"/>
              </a:ext>
            </a:extLst>
          </p:cNvPr>
          <p:cNvSpPr txBox="1"/>
          <p:nvPr/>
        </p:nvSpPr>
        <p:spPr>
          <a:xfrm>
            <a:off x="8408276" y="5957045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Time consuming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222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EB879-43D7-5C73-6A8B-FE9640B4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2A8EA-D045-0D53-476D-BB966E5E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F625A5F9-735D-8DB0-618B-A25C7FCB9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166988"/>
              </p:ext>
            </p:extLst>
          </p:nvPr>
        </p:nvGraphicFramePr>
        <p:xfrm>
          <a:off x="838200" y="1825625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076">
                  <a:extLst>
                    <a:ext uri="{9D8B030D-6E8A-4147-A177-3AD203B41FA5}">
                      <a16:colId xmlns:a16="http://schemas.microsoft.com/office/drawing/2014/main" val="3170909229"/>
                    </a:ext>
                  </a:extLst>
                </a:gridCol>
                <a:gridCol w="5993524">
                  <a:extLst>
                    <a:ext uri="{9D8B030D-6E8A-4147-A177-3AD203B41FA5}">
                      <a16:colId xmlns:a16="http://schemas.microsoft.com/office/drawing/2014/main" val="3468516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zh-TW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  <a:endParaRPr lang="zh-TW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37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Stochastic verification may reject valid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 post-hoc random sampling with </a:t>
                      </a:r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incremental parser-state tracking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grammar legality as the beam expands.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57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Position-wise checks miss cross-token dependencies, which can lead to globally invalid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Multi-tokens denoising in single step from both direction. </a:t>
                      </a:r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beam search</a:t>
                      </a:r>
                      <a:r>
                        <a:rPr lang="en-US" altLang="zh-TW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over the entire unmasked span, while tracking parser states to enforce global grammar consistency.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204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1914-6343-11FE-3B7A-4716DB00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A7538-4AFF-63E8-A500-B0D495D2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CF88C67-AD8B-00AB-5D70-C70FD1C36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2581" y="2094949"/>
            <a:ext cx="6910385" cy="219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7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F108-D8AD-C9B3-8C69-8D9F793A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22F0C-7CF1-7E66-C918-273BD438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681C10-574F-582A-FA67-3ED96A1BC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+ Trie </a:t>
            </a:r>
          </a:p>
          <a:p>
            <a:pPr lvl="1"/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Vectorizing the Trie: Efficient Constrained Decoding for LLM-based Generative Retrieval on Accelerators (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Google DeepMind 2026)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sparse matrix load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948x speedup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574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288</Words>
  <Application>Microsoft Macintosh PowerPoint</Application>
  <PresentationFormat>寬螢幕</PresentationFormat>
  <Paragraphs>37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佈景主題</vt:lpstr>
      <vt:lpstr>Grammar-Guided Deterministic Decoding for Diffusion Language Model</vt:lpstr>
      <vt:lpstr>Motivation</vt:lpstr>
      <vt:lpstr>Related works</vt:lpstr>
      <vt:lpstr>LAVE (sota method for constrained decoding)</vt:lpstr>
      <vt:lpstr>Proposed Method</vt:lpstr>
      <vt:lpstr>Current result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Buffett Liu</dc:creator>
  <cp:lastModifiedBy>Buffett Liu</cp:lastModifiedBy>
  <cp:revision>43</cp:revision>
  <dcterms:created xsi:type="dcterms:W3CDTF">2026-03-24T18:10:42Z</dcterms:created>
  <dcterms:modified xsi:type="dcterms:W3CDTF">2026-03-24T23:58:58Z</dcterms:modified>
</cp:coreProperties>
</file>